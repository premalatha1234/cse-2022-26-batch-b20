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8"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143AD7-E749-5E1E-371D-A585C0C727CD}" name="User" initials="U" userId="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87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5439"/>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5439"/>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5439"/>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27130"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54637" y="6629427"/>
            <a:ext cx="62420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95"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remalatha1234/CSE-2022-26-Batch-B20" TargetMode="External"/><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r>
                <a:rPr lang="en-US" dirty="0"/>
                <a:t>1</a:t>
              </a:r>
              <a:endParaRPr dirty="0"/>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US" sz="1600" dirty="0"/>
              <a:t>B-20</a:t>
            </a:r>
            <a:endParaRPr sz="1600" dirty="0"/>
          </a:p>
        </p:txBody>
      </p:sp>
      <p:sp>
        <p:nvSpPr>
          <p:cNvPr id="8" name="object 8"/>
          <p:cNvSpPr txBox="1"/>
          <p:nvPr/>
        </p:nvSpPr>
        <p:spPr>
          <a:xfrm>
            <a:off x="5015004" y="1735293"/>
            <a:ext cx="1844675" cy="424815"/>
          </a:xfrm>
          <a:prstGeom prst="rect">
            <a:avLst/>
          </a:prstGeom>
        </p:spPr>
        <p:txBody>
          <a:bodyPr vert="horz" wrap="square" lIns="0" tIns="13335" rIns="0" bIns="0" rtlCol="0">
            <a:spAutoFit/>
          </a:bodyPr>
          <a:lstStyle/>
          <a:p>
            <a:pPr algn="ctr">
              <a:lnSpc>
                <a:spcPts val="2080"/>
              </a:lnSpc>
              <a:spcBef>
                <a:spcPts val="105"/>
              </a:spcBef>
            </a:pPr>
            <a:r>
              <a:rPr lang="en-US" sz="2400" dirty="0">
                <a:latin typeface="Times New Roman"/>
                <a:cs typeface="Times New Roman"/>
              </a:rPr>
              <a:t>E.MANJULA</a:t>
            </a:r>
            <a:endParaRPr sz="24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sz="900" spc="-10" dirty="0">
                <a:latin typeface="Times New Roman"/>
                <a:cs typeface="Times New Roman"/>
              </a:rPr>
              <a:t>2</a:t>
            </a:r>
            <a:r>
              <a:rPr lang="en-US" sz="900" spc="-10" dirty="0">
                <a:latin typeface="Times New Roman"/>
                <a:cs typeface="Times New Roman"/>
              </a:rPr>
              <a:t>3</a:t>
            </a:r>
            <a:r>
              <a:rPr sz="900" spc="-10" dirty="0">
                <a:latin typeface="Times New Roman"/>
                <a:cs typeface="Times New Roman"/>
              </a:rPr>
              <a:t>4G</a:t>
            </a:r>
            <a:r>
              <a:rPr lang="en-US" sz="900" spc="-10" dirty="0">
                <a:latin typeface="Times New Roman"/>
                <a:cs typeface="Times New Roman"/>
              </a:rPr>
              <a:t>5</a:t>
            </a:r>
            <a:r>
              <a:rPr sz="900" spc="-10" dirty="0">
                <a:latin typeface="Times New Roman"/>
                <a:cs typeface="Times New Roman"/>
              </a:rPr>
              <a:t>A05</a:t>
            </a:r>
            <a:r>
              <a:rPr lang="en-US" sz="900" spc="-10" dirty="0">
                <a:latin typeface="Times New Roman"/>
                <a:cs typeface="Times New Roman"/>
              </a:rPr>
              <a:t>06</a:t>
            </a:r>
            <a:endParaRPr sz="900" dirty="0">
              <a:latin typeface="Times New Roman"/>
              <a:cs typeface="Times New Roman"/>
            </a:endParaRPr>
          </a:p>
        </p:txBody>
      </p:sp>
      <p:sp>
        <p:nvSpPr>
          <p:cNvPr id="9" name="object 9"/>
          <p:cNvSpPr txBox="1"/>
          <p:nvPr/>
        </p:nvSpPr>
        <p:spPr>
          <a:xfrm>
            <a:off x="3781170" y="2476799"/>
            <a:ext cx="3946478" cy="589905"/>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US" sz="2400" spc="-20" dirty="0">
                <a:latin typeface="Times New Roman"/>
                <a:cs typeface="Times New Roman"/>
              </a:rPr>
              <a:t>Mr. G. Chinna Pullaiah</a:t>
            </a:r>
            <a:r>
              <a:rPr sz="2400" spc="-20" dirty="0">
                <a:latin typeface="Times New Roman"/>
                <a:cs typeface="Times New Roman"/>
              </a:rPr>
              <a:t> </a:t>
            </a:r>
            <a:r>
              <a:rPr lang="en-US" sz="2400" spc="-20" dirty="0">
                <a:latin typeface="Times New Roman"/>
                <a:cs typeface="Times New Roman"/>
              </a:rPr>
              <a:t>, </a:t>
            </a:r>
            <a:r>
              <a:rPr lang="en-US" sz="1100" spc="-10" dirty="0">
                <a:latin typeface="Times New Roman"/>
                <a:cs typeface="Times New Roman"/>
              </a:rPr>
              <a:t>M. Tech., Ph.D.</a:t>
            </a:r>
            <a:endParaRPr sz="1100" dirty="0">
              <a:latin typeface="Times New Roman"/>
              <a:cs typeface="Times New Roman"/>
            </a:endParaRPr>
          </a:p>
        </p:txBody>
      </p:sp>
      <p:sp>
        <p:nvSpPr>
          <p:cNvPr id="10" name="object 10"/>
          <p:cNvSpPr txBox="1"/>
          <p:nvPr/>
        </p:nvSpPr>
        <p:spPr>
          <a:xfrm>
            <a:off x="2166623" y="5096081"/>
            <a:ext cx="78524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a:t>
            </a:r>
            <a:r>
              <a:rPr lang="en-US" sz="2200" dirty="0">
                <a:latin typeface="Times New Roman"/>
                <a:cs typeface="Times New Roman"/>
              </a:rPr>
              <a:t>ence</a:t>
            </a:r>
            <a:r>
              <a:rPr lang="en-IN" sz="2200" spc="-20" dirty="0">
                <a:latin typeface="Times New Roman"/>
                <a:cs typeface="Times New Roman"/>
              </a:rPr>
              <a:t> </a:t>
            </a:r>
            <a:r>
              <a:rPr lang="en-IN" sz="2200" dirty="0">
                <a:latin typeface="Times New Roman"/>
                <a:cs typeface="Times New Roman"/>
              </a:rPr>
              <a:t>and</a:t>
            </a:r>
            <a:r>
              <a:rPr lang="en-IN" sz="2200" spc="-15" dirty="0">
                <a:latin typeface="Times New Roman"/>
                <a:cs typeface="Times New Roman"/>
              </a:rPr>
              <a:t> </a:t>
            </a:r>
            <a:r>
              <a:rPr lang="en-IN" sz="2200" dirty="0">
                <a:latin typeface="Times New Roman"/>
                <a:cs typeface="Times New Roman"/>
              </a:rPr>
              <a:t>Engineering</a:t>
            </a:r>
            <a:r>
              <a:rPr lang="en-IN"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5"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75"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35" dirty="0">
                <a:latin typeface="Times New Roman"/>
                <a:cs typeface="Times New Roman"/>
              </a:rPr>
              <a:t> </a:t>
            </a:r>
            <a:r>
              <a:rPr sz="1200" b="1" dirty="0">
                <a:latin typeface="Times New Roman"/>
                <a:cs typeface="Times New Roman"/>
              </a:rPr>
              <a:t>Village,</a:t>
            </a:r>
            <a:r>
              <a:rPr sz="1200" b="1" spc="-10" dirty="0">
                <a:latin typeface="Times New Roman"/>
                <a:cs typeface="Times New Roman"/>
              </a:rPr>
              <a:t> </a:t>
            </a:r>
            <a:r>
              <a:rPr sz="1200" b="1" dirty="0">
                <a:latin typeface="Times New Roman"/>
                <a:cs typeface="Times New Roman"/>
              </a:rPr>
              <a:t>B</a:t>
            </a:r>
            <a:r>
              <a:rPr sz="1200" b="1" spc="-15" dirty="0">
                <a:latin typeface="Times New Roman"/>
                <a:cs typeface="Times New Roman"/>
              </a:rPr>
              <a:t> </a:t>
            </a:r>
            <a:r>
              <a:rPr sz="1200" b="1" dirty="0">
                <a:latin typeface="Times New Roman"/>
                <a:cs typeface="Times New Roman"/>
              </a:rPr>
              <a:t>K</a:t>
            </a:r>
            <a:r>
              <a:rPr sz="1200" b="1" spc="-10" dirty="0">
                <a:latin typeface="Times New Roman"/>
                <a:cs typeface="Times New Roman"/>
              </a:rPr>
              <a:t> </a:t>
            </a:r>
            <a:r>
              <a:rPr sz="1200" b="1" dirty="0">
                <a:latin typeface="Times New Roman"/>
                <a:cs typeface="Times New Roman"/>
              </a:rPr>
              <a:t>Samudram</a:t>
            </a:r>
            <a:r>
              <a:rPr sz="1200" b="1" spc="-15" dirty="0">
                <a:latin typeface="Times New Roman"/>
                <a:cs typeface="Times New Roman"/>
              </a:rPr>
              <a:t> </a:t>
            </a:r>
            <a:r>
              <a:rPr sz="1200" b="1" dirty="0">
                <a:latin typeface="Times New Roman"/>
                <a:cs typeface="Times New Roman"/>
              </a:rPr>
              <a:t>Mandal,</a:t>
            </a:r>
            <a:r>
              <a:rPr sz="1200" b="1" spc="-7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1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2024-</a:t>
            </a:r>
            <a:r>
              <a:rPr sz="1300" b="1" spc="-20" dirty="0">
                <a:solidFill>
                  <a:srgbClr val="1E4E78"/>
                </a:solidFill>
                <a:latin typeface="Times New Roman"/>
                <a:cs typeface="Times New Roman"/>
              </a:rPr>
              <a:t>2025</a:t>
            </a:r>
            <a:endParaRPr sz="1300" dirty="0">
              <a:latin typeface="Times New Roman"/>
              <a:cs typeface="Times New Roman"/>
            </a:endParaRPr>
          </a:p>
        </p:txBody>
      </p:sp>
      <p:sp>
        <p:nvSpPr>
          <p:cNvPr id="12" name="object 12"/>
          <p:cNvSpPr txBox="1"/>
          <p:nvPr/>
        </p:nvSpPr>
        <p:spPr>
          <a:xfrm>
            <a:off x="7848600" y="1735293"/>
            <a:ext cx="2882649" cy="415627"/>
          </a:xfrm>
          <a:prstGeom prst="rect">
            <a:avLst/>
          </a:prstGeom>
        </p:spPr>
        <p:txBody>
          <a:bodyPr vert="horz" wrap="square" lIns="0" tIns="13335" rIns="0" bIns="0" rtlCol="0">
            <a:spAutoFit/>
          </a:bodyPr>
          <a:lstStyle/>
          <a:p>
            <a:pPr algn="ctr">
              <a:lnSpc>
                <a:spcPts val="2080"/>
              </a:lnSpc>
              <a:spcBef>
                <a:spcPts val="105"/>
              </a:spcBef>
            </a:pPr>
            <a:r>
              <a:rPr lang="en-US" sz="2400" dirty="0">
                <a:latin typeface="Times New Roman"/>
                <a:cs typeface="Times New Roman"/>
              </a:rPr>
              <a:t>M.RANJITH KUMAR</a:t>
            </a:r>
            <a:endParaRPr sz="24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US" sz="900" spc="-10" dirty="0">
                <a:latin typeface="Times New Roman"/>
                <a:cs typeface="Times New Roman"/>
              </a:rPr>
              <a:t>234G5A0512</a:t>
            </a:r>
            <a:endParaRPr sz="900" dirty="0">
              <a:latin typeface="Times New Roman"/>
              <a:cs typeface="Times New Roman"/>
            </a:endParaRPr>
          </a:p>
        </p:txBody>
      </p:sp>
      <p:sp>
        <p:nvSpPr>
          <p:cNvPr id="13" name="object 13"/>
          <p:cNvSpPr txBox="1"/>
          <p:nvPr/>
        </p:nvSpPr>
        <p:spPr>
          <a:xfrm>
            <a:off x="928406" y="1627415"/>
            <a:ext cx="2476433" cy="552074"/>
          </a:xfrm>
          <a:prstGeom prst="rect">
            <a:avLst/>
          </a:prstGeom>
        </p:spPr>
        <p:txBody>
          <a:bodyPr vert="horz" wrap="square" lIns="0" tIns="13335" rIns="0" bIns="0" rtlCol="0">
            <a:spAutoFit/>
          </a:bodyPr>
          <a:lstStyle/>
          <a:p>
            <a:pPr algn="ctr">
              <a:lnSpc>
                <a:spcPct val="100000"/>
              </a:lnSpc>
              <a:spcBef>
                <a:spcPts val="105"/>
              </a:spcBef>
            </a:pPr>
            <a:r>
              <a:rPr lang="en-US" sz="2400" dirty="0">
                <a:latin typeface="Times New Roman"/>
                <a:cs typeface="Times New Roman"/>
              </a:rPr>
              <a:t>C.PREMALATHA</a:t>
            </a:r>
            <a:endParaRPr sz="2400" dirty="0">
              <a:latin typeface="Times New Roman"/>
              <a:cs typeface="Times New Roman"/>
            </a:endParaRPr>
          </a:p>
          <a:p>
            <a:pPr marL="1270"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US" sz="1100" spc="-10" dirty="0">
                <a:latin typeface="Times New Roman"/>
                <a:cs typeface="Times New Roman"/>
              </a:rPr>
              <a:t>2</a:t>
            </a:r>
            <a:r>
              <a:rPr sz="1100" spc="-10" dirty="0">
                <a:latin typeface="Times New Roman"/>
                <a:cs typeface="Times New Roman"/>
              </a:rPr>
              <a:t>4G1A05</a:t>
            </a:r>
            <a:r>
              <a:rPr lang="en-US" sz="1100" spc="-10" dirty="0">
                <a:latin typeface="Times New Roman"/>
                <a:cs typeface="Times New Roman"/>
              </a:rPr>
              <a:t>77</a:t>
            </a:r>
            <a:endParaRPr sz="11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1143000" y="491407"/>
            <a:ext cx="9372600" cy="505267"/>
          </a:xfrm>
          <a:prstGeom prst="rect">
            <a:avLst/>
          </a:prstGeom>
        </p:spPr>
        <p:txBody>
          <a:bodyPr vert="horz" wrap="square" lIns="0" tIns="12700" rIns="0" bIns="0" rtlCol="0">
            <a:spAutoFit/>
          </a:bodyPr>
          <a:lstStyle/>
          <a:p>
            <a:pPr marL="12700">
              <a:lnSpc>
                <a:spcPct val="100000"/>
              </a:lnSpc>
              <a:spcBef>
                <a:spcPts val="100"/>
              </a:spcBef>
            </a:pPr>
            <a:r>
              <a:rPr lang="en-IN" sz="3200" dirty="0"/>
              <a:t>Driver Drowsiness Detector Using Quantum Computing</a:t>
            </a:r>
            <a:endParaRPr sz="32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a:extLst>
              <a:ext uri="{C183D7F6-B498-43B3-948B-1728B52AA6E4}">
                <adec:decorative xmlns:adec="http://schemas.microsoft.com/office/drawing/2017/decorative" val="1"/>
              </a:ext>
            </a:extLst>
          </p:cNvPr>
          <p:cNvPicPr/>
          <p:nvPr/>
        </p:nvPicPr>
        <p:blipFill>
          <a:blip r:embed="rId3" cstate="print"/>
          <a:stretch>
            <a:fillRect/>
          </a:stretch>
        </p:blipFill>
        <p:spPr>
          <a:xfrm>
            <a:off x="5223731" y="3415795"/>
            <a:ext cx="1527378" cy="1685486"/>
          </a:xfrm>
          <a:prstGeom prst="rect">
            <a:avLst/>
          </a:prstGeom>
        </p:spPr>
      </p:pic>
      <p:sp>
        <p:nvSpPr>
          <p:cNvPr id="22" name="TextBox 21">
            <a:extLst>
              <a:ext uri="{FF2B5EF4-FFF2-40B4-BE49-F238E27FC236}">
                <a16:creationId xmlns:a16="http://schemas.microsoft.com/office/drawing/2014/main" id="{960DED06-2D69-54FC-1FFA-2CAB198B9D6A}"/>
              </a:ext>
            </a:extLst>
          </p:cNvPr>
          <p:cNvSpPr txBox="1"/>
          <p:nvPr/>
        </p:nvSpPr>
        <p:spPr>
          <a:xfrm>
            <a:off x="5223731" y="3156628"/>
            <a:ext cx="1527378" cy="276999"/>
          </a:xfrm>
          <a:prstGeom prst="rect">
            <a:avLst/>
          </a:prstGeom>
          <a:noFill/>
        </p:spPr>
        <p:txBody>
          <a:bodyPr wrap="square" rtlCol="0">
            <a:spAutoFit/>
          </a:bodyPr>
          <a:lstStyle/>
          <a:p>
            <a:r>
              <a:rPr lang="en-US" sz="1200" dirty="0"/>
              <a:t>Assistant Professor</a:t>
            </a:r>
            <a:endParaRPr lang="en-I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24400" y="-31017"/>
            <a:ext cx="4722864"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9" name="object 9"/>
          <p:cNvSpPr txBox="1">
            <a:spLocks noGrp="1"/>
          </p:cNvSpPr>
          <p:nvPr>
            <p:ph type="dt" sz="half" idx="6"/>
          </p:nvPr>
        </p:nvSpPr>
        <p:spPr>
          <a:xfrm>
            <a:off x="1219200" y="6629558"/>
            <a:ext cx="495300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US" cap="small" spc="-130" dirty="0"/>
              <a:t> Engineering</a:t>
            </a:r>
            <a:r>
              <a:rPr cap="small" spc="55" dirty="0"/>
              <a:t> </a:t>
            </a:r>
            <a:endParaRPr cap="small" spc="-130" dirty="0"/>
          </a:p>
        </p:txBody>
      </p:sp>
      <p:sp>
        <p:nvSpPr>
          <p:cNvPr id="10" name="object 10"/>
          <p:cNvSpPr txBox="1"/>
          <p:nvPr/>
        </p:nvSpPr>
        <p:spPr>
          <a:xfrm>
            <a:off x="6705600" y="6629197"/>
            <a:ext cx="4321998"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25305"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14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90" dirty="0">
                <a:latin typeface="Times New Roman"/>
                <a:cs typeface="Times New Roman"/>
              </a:rPr>
              <a:t> </a:t>
            </a:r>
            <a:r>
              <a:rPr sz="2800" spc="-35" dirty="0">
                <a:latin typeface="Times New Roman"/>
                <a:cs typeface="Times New Roman"/>
              </a:rPr>
              <a:t>Work </a:t>
            </a:r>
            <a:r>
              <a:rPr sz="2800" spc="-10" dirty="0">
                <a:latin typeface="Times New Roman"/>
                <a:cs typeface="Times New Roman"/>
              </a:rPr>
              <a:t>-</a:t>
            </a:r>
            <a:r>
              <a:rPr sz="2800" dirty="0">
                <a:latin typeface="Times New Roman"/>
                <a:cs typeface="Times New Roman"/>
              </a:rPr>
              <a:t>(Methods</a:t>
            </a:r>
            <a:r>
              <a:rPr sz="2800" spc="-45"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be</a:t>
            </a:r>
            <a:r>
              <a:rPr sz="2800" spc="-40" dirty="0">
                <a:latin typeface="Times New Roman"/>
                <a:cs typeface="Times New Roman"/>
              </a:rPr>
              <a:t> </a:t>
            </a:r>
            <a:r>
              <a:rPr sz="2800" dirty="0">
                <a:latin typeface="Times New Roman"/>
                <a:cs typeface="Times New Roman"/>
              </a:rPr>
              <a:t>followed</a:t>
            </a:r>
            <a:r>
              <a:rPr sz="2800" spc="-35" dirty="0">
                <a:latin typeface="Times New Roman"/>
                <a:cs typeface="Times New Roman"/>
              </a:rPr>
              <a:t> </a:t>
            </a:r>
            <a:r>
              <a:rPr sz="2800" dirty="0">
                <a:latin typeface="Times New Roman"/>
                <a:cs typeface="Times New Roman"/>
              </a:rPr>
              <a:t>for</a:t>
            </a:r>
            <a:r>
              <a:rPr sz="2800" spc="-35" dirty="0">
                <a:latin typeface="Times New Roman"/>
                <a:cs typeface="Times New Roman"/>
              </a:rPr>
              <a:t> </a:t>
            </a:r>
            <a:r>
              <a:rPr sz="2800" dirty="0">
                <a:latin typeface="Times New Roman"/>
                <a:cs typeface="Times New Roman"/>
              </a:rPr>
              <a:t>proposed</a:t>
            </a:r>
            <a:r>
              <a:rPr sz="2800" spc="-4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4267200" y="-46258"/>
            <a:ext cx="4824523"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solidFill>
                  <a:srgbClr val="000000"/>
                </a:solidFill>
              </a:rPr>
              <a:t>Ti</a:t>
            </a:r>
            <a:r>
              <a:rPr lang="en-IN" dirty="0">
                <a:solidFill>
                  <a:srgbClr val="000000"/>
                </a:solidFill>
              </a:rPr>
              <a:t>t</a:t>
            </a:r>
            <a:r>
              <a:rPr dirty="0">
                <a:solidFill>
                  <a:srgbClr val="000000"/>
                </a:solidFill>
              </a:rPr>
              <a:t>le</a:t>
            </a:r>
            <a:r>
              <a:rPr spc="-240" dirty="0">
                <a:solidFill>
                  <a:srgbClr val="000000"/>
                </a:solidFill>
              </a:rPr>
              <a:t> </a:t>
            </a:r>
            <a:r>
              <a:rPr spc="-10" dirty="0">
                <a:solidFill>
                  <a:srgbClr val="000000"/>
                </a:solidFill>
              </a:rPr>
              <a:t>Justification</a:t>
            </a:r>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IN" spc="-95" dirty="0"/>
              <a:t>B </a:t>
            </a:r>
            <a:r>
              <a:rPr lang="en-IN" dirty="0"/>
              <a:t>-</a:t>
            </a:r>
            <a:r>
              <a:rPr lang="en-IN" spc="-5" dirty="0"/>
              <a:t> </a:t>
            </a:r>
            <a:r>
              <a:rPr lang="en-IN" spc="-25" dirty="0"/>
              <a:t>20</a:t>
            </a:r>
            <a:endParaRPr spc="-25" dirty="0"/>
          </a:p>
        </p:txBody>
      </p:sp>
      <p:sp>
        <p:nvSpPr>
          <p:cNvPr id="9" name="object 9"/>
          <p:cNvSpPr txBox="1">
            <a:spLocks noGrp="1"/>
          </p:cNvSpPr>
          <p:nvPr>
            <p:ph type="dt" sz="half" idx="6"/>
          </p:nvPr>
        </p:nvSpPr>
        <p:spPr>
          <a:xfrm>
            <a:off x="1295400" y="6629558"/>
            <a:ext cx="4139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887639" y="6629197"/>
            <a:ext cx="4139959"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3" name="TextBox 12">
            <a:extLst>
              <a:ext uri="{FF2B5EF4-FFF2-40B4-BE49-F238E27FC236}">
                <a16:creationId xmlns:a16="http://schemas.microsoft.com/office/drawing/2014/main" id="{8FCB1764-E20F-9B13-CB86-88C699915A22}"/>
              </a:ext>
            </a:extLst>
          </p:cNvPr>
          <p:cNvSpPr txBox="1"/>
          <p:nvPr/>
        </p:nvSpPr>
        <p:spPr>
          <a:xfrm>
            <a:off x="228599" y="959809"/>
            <a:ext cx="11564645" cy="4190314"/>
          </a:xfrm>
          <a:prstGeom prst="rect">
            <a:avLst/>
          </a:prstGeom>
          <a:noFill/>
        </p:spPr>
        <p:txBody>
          <a:bodyPr wrap="square">
            <a:spAutoFit/>
          </a:bodyPr>
          <a:lstStyle/>
          <a:p>
            <a:pPr algn="just">
              <a:lnSpc>
                <a:spcPct val="150000"/>
              </a:lnSpc>
            </a:pPr>
            <a:r>
              <a:rPr lang="en-US" sz="2000" dirty="0"/>
              <a:t>The title </a:t>
            </a:r>
            <a:r>
              <a:rPr lang="en-US" sz="2000" b="1" dirty="0"/>
              <a:t>“Driver Drowsiness Detection System”</a:t>
            </a:r>
            <a:r>
              <a:rPr lang="en-US" sz="2000" dirty="0"/>
              <a:t> is appropriate because it clearly represents the main aim of the project, which is to identify when a driver becomes sleepy while driving. Drowsiness is one of the major causes of road accidents, and detecting it early can help prevent serious incidents. This system continuously monitors the driver’s eye movements and facial patterns in real time. By using computer vision and machine learning techniques, it accurately identifies signs of fatigue. The title reflects both the purpose and the technology used in the project. It highlights the focus on improving road safety and reducing human errors. The system provides timely alerts to the driver, helping them stay awake and aware. Overall, the title is short, meaningful, and directly communicates the project’s main function and significance.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00600" y="-26696"/>
            <a:ext cx="4628185"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5257800" y="209958"/>
            <a:ext cx="1451222"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rPr>
              <a:t>Abstract</a:t>
            </a:r>
            <a:endParaRPr sz="2800" dirty="0"/>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9" name="object 9"/>
          <p:cNvSpPr txBox="1">
            <a:spLocks noGrp="1"/>
          </p:cNvSpPr>
          <p:nvPr>
            <p:ph type="dt" sz="half" idx="6"/>
          </p:nvPr>
        </p:nvSpPr>
        <p:spPr>
          <a:xfrm>
            <a:off x="1544489" y="6629558"/>
            <a:ext cx="389087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934200" y="6629197"/>
            <a:ext cx="4093398"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3" name="TextBox 12">
            <a:extLst>
              <a:ext uri="{FF2B5EF4-FFF2-40B4-BE49-F238E27FC236}">
                <a16:creationId xmlns:a16="http://schemas.microsoft.com/office/drawing/2014/main" id="{6F72D65D-E672-9378-1E0D-2F739D1170A6}"/>
              </a:ext>
            </a:extLst>
          </p:cNvPr>
          <p:cNvSpPr txBox="1"/>
          <p:nvPr/>
        </p:nvSpPr>
        <p:spPr>
          <a:xfrm>
            <a:off x="154637" y="1019880"/>
            <a:ext cx="11867208" cy="5113644"/>
          </a:xfrm>
          <a:prstGeom prst="rect">
            <a:avLst/>
          </a:prstGeom>
          <a:noFill/>
        </p:spPr>
        <p:txBody>
          <a:bodyPr wrap="square">
            <a:spAutoFit/>
          </a:bodyPr>
          <a:lstStyle/>
          <a:p>
            <a:pPr algn="just">
              <a:lnSpc>
                <a:spcPct val="150000"/>
              </a:lnSpc>
            </a:pPr>
            <a:r>
              <a:rPr lang="en-US" sz="2000" dirty="0"/>
              <a:t>Driver drowsiness is a major cause of road accidents, creating a need for effective real-time monitoring systems. This project presents a non-intrusive, vision-based approach that uses facial landmarks, CNN-based feature extraction, and a Variational Quantum Circuit (VQC) classifier to detect early signs of fatigue. Live video from a webcam is analyzed to classify the driver as awake or drowsy, and automatic alerts—such as audio alarms and email notifications—are triggered when drowsiness is detected. Although detailed numerical results are not included, the system successfully demonstrates real-time detection and highlights the potential of hybrid quantum–classical models for improving safety in driver-assistance applications.</a:t>
            </a:r>
          </a:p>
          <a:p>
            <a:pPr algn="just">
              <a:lnSpc>
                <a:spcPct val="150000"/>
              </a:lnSpc>
            </a:pPr>
            <a:endParaRPr lang="en-US" sz="2000" dirty="0"/>
          </a:p>
          <a:p>
            <a:pPr algn="just">
              <a:lnSpc>
                <a:spcPct val="150000"/>
              </a:lnSpc>
            </a:pPr>
            <a:r>
              <a:rPr lang="en-US" sz="2000" b="1" dirty="0"/>
              <a:t>Keywords:</a:t>
            </a:r>
            <a:r>
              <a:rPr lang="en-IN" sz="2000" dirty="0"/>
              <a:t>Driver Drowsiness Detection, Computer Vision, Facial Landmark Detection, Hybrid Quantum–Classical Model, Convolutional Neural Network (CNN), Real-Time Alert System.</a:t>
            </a:r>
            <a:endParaRPr lang="en-IN" sz="2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47794" y="-26696"/>
            <a:ext cx="4739005"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9" name="object 9"/>
          <p:cNvSpPr txBox="1">
            <a:spLocks noGrp="1"/>
          </p:cNvSpPr>
          <p:nvPr>
            <p:ph type="dt" sz="half" idx="6"/>
          </p:nvPr>
        </p:nvSpPr>
        <p:spPr>
          <a:xfrm>
            <a:off x="1524000" y="6629558"/>
            <a:ext cx="39113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56643" y="6629197"/>
            <a:ext cx="4270955"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7"/>
          <p:cNvSpPr txBox="1">
            <a:spLocks noGrp="1"/>
          </p:cNvSpPr>
          <p:nvPr>
            <p:ph type="body" idx="1"/>
          </p:nvPr>
        </p:nvSpPr>
        <p:spPr>
          <a:xfrm>
            <a:off x="236899" y="1074319"/>
            <a:ext cx="11421701" cy="4427174"/>
          </a:xfrm>
          <a:prstGeom prst="rect">
            <a:avLst/>
          </a:prstGeom>
        </p:spPr>
        <p:txBody>
          <a:bodyPr vert="horz" wrap="square" lIns="0" tIns="60960" rIns="0" bIns="0" rtlCol="0">
            <a:spAutoFit/>
          </a:bodyPr>
          <a:lstStyle/>
          <a:p>
            <a:pPr marL="342900" indent="-342900" algn="just">
              <a:lnSpc>
                <a:spcPct val="150000"/>
              </a:lnSpc>
              <a:buFont typeface="Arial" panose="020B0604020202020204" pitchFamily="34" charset="0"/>
              <a:buChar char="•"/>
            </a:pPr>
            <a:r>
              <a:rPr lang="en-US" sz="2400" dirty="0"/>
              <a:t>Driver drowsiness is a major cause of road accidents, leading to reduced alertness, slower reaction time, and increased risk of fatal collisions.</a:t>
            </a:r>
          </a:p>
          <a:p>
            <a:pPr marL="342900" indent="-342900" algn="just">
              <a:lnSpc>
                <a:spcPct val="150000"/>
              </a:lnSpc>
              <a:buFont typeface="Arial" panose="020B0604020202020204" pitchFamily="34" charset="0"/>
              <a:buChar char="•"/>
            </a:pPr>
            <a:r>
              <a:rPr lang="en-US" sz="2400" dirty="0"/>
              <a:t>Traditional monitoring systems fail to provide accurate and real-time detection, especially in low-light conditions, varying facial features, and dynamic driving environments.</a:t>
            </a:r>
          </a:p>
          <a:p>
            <a:pPr marL="342900" indent="-342900" algn="just">
              <a:lnSpc>
                <a:spcPct val="150000"/>
              </a:lnSpc>
              <a:buFont typeface="Arial" panose="020B0604020202020204" pitchFamily="34" charset="0"/>
              <a:buChar char="•"/>
            </a:pPr>
            <a:r>
              <a:rPr lang="en-US" sz="2400" dirty="0"/>
              <a:t>There is a growing need for an intelligent, non-intrusive, and reliable drowsiness detection system that can analyze facial cues and alert drivers instantly.</a:t>
            </a:r>
          </a:p>
          <a:p>
            <a:pPr marL="342900" indent="-342900" algn="just">
              <a:lnSpc>
                <a:spcPct val="150000"/>
              </a:lnSpc>
              <a:buFont typeface="Arial" panose="020B0604020202020204" pitchFamily="34" charset="0"/>
              <a:buChar char="•"/>
            </a:pPr>
            <a:r>
              <a:rPr lang="en-US" sz="2400" dirty="0"/>
              <a:t>Real-time alert mechanisms such as audio alarms and automated email notifications are essential to prevent accidents by warning both the driver and external contacts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85055" y="-45280"/>
            <a:ext cx="4739005" cy="730969"/>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9" name="object 9"/>
          <p:cNvSpPr txBox="1">
            <a:spLocks noGrp="1"/>
          </p:cNvSpPr>
          <p:nvPr>
            <p:ph type="dt" sz="half" idx="6"/>
          </p:nvPr>
        </p:nvSpPr>
        <p:spPr>
          <a:xfrm>
            <a:off x="1371600" y="6629558"/>
            <a:ext cx="40637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963839" y="6629197"/>
            <a:ext cx="4063759"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3" name="TextBox 12">
            <a:extLst>
              <a:ext uri="{FF2B5EF4-FFF2-40B4-BE49-F238E27FC236}">
                <a16:creationId xmlns:a16="http://schemas.microsoft.com/office/drawing/2014/main" id="{D0DA3FA8-E0CD-7140-5035-6DF6094289D8}"/>
              </a:ext>
            </a:extLst>
          </p:cNvPr>
          <p:cNvSpPr txBox="1"/>
          <p:nvPr/>
        </p:nvSpPr>
        <p:spPr>
          <a:xfrm>
            <a:off x="296218" y="1271150"/>
            <a:ext cx="11286182" cy="4438395"/>
          </a:xfrm>
          <a:prstGeom prst="rect">
            <a:avLst/>
          </a:prstGeom>
          <a:noFill/>
        </p:spPr>
        <p:txBody>
          <a:bodyPr wrap="square">
            <a:spAutoFit/>
          </a:bodyPr>
          <a:lstStyle/>
          <a:p>
            <a:pPr>
              <a:lnSpc>
                <a:spcPct val="200000"/>
              </a:lnSpc>
              <a:buNone/>
            </a:pPr>
            <a:r>
              <a:rPr lang="en-US" b="1" dirty="0"/>
              <a:t>Objective 1:</a:t>
            </a:r>
            <a:br>
              <a:rPr lang="en-US" dirty="0"/>
            </a:br>
            <a:r>
              <a:rPr lang="en-US" dirty="0"/>
              <a:t>To develop an intelligent real-time driver drowsiness detection system using a hybrid </a:t>
            </a:r>
            <a:r>
              <a:rPr lang="en-US" b="1" dirty="0"/>
              <a:t>quantum–classical deep learning model</a:t>
            </a:r>
            <a:r>
              <a:rPr lang="en-US" dirty="0"/>
              <a:t>, based on facial expressions and eye-based feature analysis to accurately identify fatigue conditions.</a:t>
            </a:r>
          </a:p>
          <a:p>
            <a:pPr>
              <a:lnSpc>
                <a:spcPct val="200000"/>
              </a:lnSpc>
              <a:buNone/>
            </a:pPr>
            <a:r>
              <a:rPr lang="en-US" b="1" dirty="0"/>
              <a:t>Objective 2:</a:t>
            </a:r>
            <a:br>
              <a:rPr lang="en-US" dirty="0"/>
            </a:br>
            <a:r>
              <a:rPr lang="en-US" dirty="0"/>
              <a:t>To design and implement an automated alert mechanism that immediately warns the driver through </a:t>
            </a:r>
            <a:r>
              <a:rPr lang="en-US" b="1" dirty="0"/>
              <a:t>audio alarms</a:t>
            </a:r>
            <a:r>
              <a:rPr lang="en-US" dirty="0"/>
              <a:t> and notifies external contacts via </a:t>
            </a:r>
            <a:r>
              <a:rPr lang="en-US" b="1" dirty="0"/>
              <a:t>SMTP-based email notifications</a:t>
            </a:r>
            <a:r>
              <a:rPr lang="en-US" dirty="0"/>
              <a:t>, thereby preventing potential road accidents.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27853-FB31-12B0-A4CE-F9E92B16AE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E65468-000C-1E96-08F9-0C37E0191CBD}"/>
              </a:ext>
            </a:extLst>
          </p:cNvPr>
          <p:cNvSpPr txBox="1"/>
          <p:nvPr/>
        </p:nvSpPr>
        <p:spPr>
          <a:xfrm>
            <a:off x="4844451" y="-28836"/>
            <a:ext cx="4628185"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E3452E24-4E0A-B930-68B3-10305D7CD23A}"/>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C0E1C662-2712-FF73-AF9D-FB300D2E83A6}"/>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147E36FA-9FFE-6E07-E62D-37EBA528CE78}"/>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0FEF30B-9FA1-12B8-B927-E0FC2CB8E065}"/>
              </a:ext>
            </a:extLst>
          </p:cNvPr>
          <p:cNvSpPr txBox="1"/>
          <p:nvPr/>
        </p:nvSpPr>
        <p:spPr>
          <a:xfrm>
            <a:off x="154637" y="251860"/>
            <a:ext cx="11351563" cy="1146468"/>
          </a:xfrm>
          <a:prstGeom prst="rect">
            <a:avLst/>
          </a:prstGeom>
        </p:spPr>
        <p:txBody>
          <a:bodyPr vert="horz" wrap="square" lIns="0" tIns="12700" rIns="0" bIns="0" rtlCol="0">
            <a:spAutoFit/>
          </a:bodyPr>
          <a:lstStyle/>
          <a:p>
            <a:pPr marL="12700" algn="just">
              <a:lnSpc>
                <a:spcPct val="100000"/>
              </a:lnSpc>
              <a:spcBef>
                <a:spcPts val="100"/>
              </a:spcBef>
            </a:pPr>
            <a:r>
              <a:rPr sz="2400" dirty="0">
                <a:latin typeface="Times New Roman"/>
                <a:cs typeface="Times New Roman"/>
              </a:rPr>
              <a:t>Literature</a:t>
            </a:r>
            <a:r>
              <a:rPr sz="2400" spc="-35" dirty="0">
                <a:latin typeface="Times New Roman"/>
                <a:cs typeface="Times New Roman"/>
              </a:rPr>
              <a:t> </a:t>
            </a:r>
            <a:r>
              <a:rPr sz="2400" dirty="0">
                <a:latin typeface="Times New Roman"/>
                <a:cs typeface="Times New Roman"/>
              </a:rPr>
              <a:t>survey</a:t>
            </a:r>
            <a:r>
              <a:rPr sz="2400" spc="-25"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spc="-10" dirty="0">
                <a:latin typeface="Times New Roman"/>
                <a:cs typeface="Times New Roman"/>
              </a:rPr>
              <a:t>objectives</a:t>
            </a:r>
            <a:endParaRPr sz="2400" dirty="0">
              <a:latin typeface="Times New Roman"/>
              <a:cs typeface="Times New Roman"/>
            </a:endParaRPr>
          </a:p>
          <a:p>
            <a:pPr algn="just">
              <a:lnSpc>
                <a:spcPct val="100000"/>
              </a:lnSpc>
              <a:spcBef>
                <a:spcPts val="225"/>
              </a:spcBef>
            </a:pPr>
            <a:endParaRPr sz="2400" dirty="0">
              <a:latin typeface="Times New Roman"/>
              <a:cs typeface="Times New Roman"/>
            </a:endParaRPr>
          </a:p>
          <a:p>
            <a:pPr algn="just"/>
            <a:r>
              <a:rPr lang="en-US" sz="2400" dirty="0"/>
              <a:t>◻</a:t>
            </a:r>
            <a:endParaRPr sz="2400" dirty="0">
              <a:latin typeface="Lucida Sans Unicode"/>
              <a:cs typeface="Lucida Sans Unicode"/>
            </a:endParaRPr>
          </a:p>
        </p:txBody>
      </p:sp>
      <p:sp>
        <p:nvSpPr>
          <p:cNvPr id="7" name="object 7">
            <a:extLst>
              <a:ext uri="{FF2B5EF4-FFF2-40B4-BE49-F238E27FC236}">
                <a16:creationId xmlns:a16="http://schemas.microsoft.com/office/drawing/2014/main" id="{D2B30E35-E6E3-4FDA-4C7E-8E2C8F1D163F}"/>
              </a:ext>
            </a:extLst>
          </p:cNvPr>
          <p:cNvSpPr txBox="1">
            <a:spLocks noGrp="1"/>
          </p:cNvSpPr>
          <p:nvPr>
            <p:ph type="ftr" sz="quarter" idx="5"/>
          </p:nvPr>
        </p:nvSpPr>
        <p:spPr>
          <a:xfrm>
            <a:off x="220031" y="6641280"/>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8" name="object 8">
            <a:extLst>
              <a:ext uri="{FF2B5EF4-FFF2-40B4-BE49-F238E27FC236}">
                <a16:creationId xmlns:a16="http://schemas.microsoft.com/office/drawing/2014/main" id="{63DF5888-C2C4-335A-F402-F59C62D8BC0C}"/>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a:extLst>
              <a:ext uri="{FF2B5EF4-FFF2-40B4-BE49-F238E27FC236}">
                <a16:creationId xmlns:a16="http://schemas.microsoft.com/office/drawing/2014/main" id="{78378148-2379-0E5B-2DFE-15733544DC23}"/>
              </a:ext>
            </a:extLst>
          </p:cNvPr>
          <p:cNvSpPr txBox="1"/>
          <p:nvPr/>
        </p:nvSpPr>
        <p:spPr>
          <a:xfrm>
            <a:off x="7158544" y="6629197"/>
            <a:ext cx="3869054" cy="250825"/>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0" name="object 10">
            <a:extLst>
              <a:ext uri="{FF2B5EF4-FFF2-40B4-BE49-F238E27FC236}">
                <a16:creationId xmlns:a16="http://schemas.microsoft.com/office/drawing/2014/main" id="{6B7F25BC-D62F-FD77-560E-6CB1BC527B6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graphicFrame>
        <p:nvGraphicFramePr>
          <p:cNvPr id="15" name="Table 14">
            <a:extLst>
              <a:ext uri="{FF2B5EF4-FFF2-40B4-BE49-F238E27FC236}">
                <a16:creationId xmlns:a16="http://schemas.microsoft.com/office/drawing/2014/main" id="{FE0FD97F-90E3-A55B-AF94-3924F3EBDB5E}"/>
              </a:ext>
            </a:extLst>
          </p:cNvPr>
          <p:cNvGraphicFramePr>
            <a:graphicFrameLocks noGrp="1"/>
          </p:cNvGraphicFramePr>
          <p:nvPr>
            <p:extLst>
              <p:ext uri="{D42A27DB-BD31-4B8C-83A1-F6EECF244321}">
                <p14:modId xmlns:p14="http://schemas.microsoft.com/office/powerpoint/2010/main" val="2877372249"/>
              </p:ext>
            </p:extLst>
          </p:nvPr>
        </p:nvGraphicFramePr>
        <p:xfrm>
          <a:off x="0" y="964130"/>
          <a:ext cx="12192000" cy="1155323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81184320"/>
                    </a:ext>
                  </a:extLst>
                </a:gridCol>
                <a:gridCol w="2438400">
                  <a:extLst>
                    <a:ext uri="{9D8B030D-6E8A-4147-A177-3AD203B41FA5}">
                      <a16:colId xmlns:a16="http://schemas.microsoft.com/office/drawing/2014/main" val="1592979591"/>
                    </a:ext>
                  </a:extLst>
                </a:gridCol>
                <a:gridCol w="2438400">
                  <a:extLst>
                    <a:ext uri="{9D8B030D-6E8A-4147-A177-3AD203B41FA5}">
                      <a16:colId xmlns:a16="http://schemas.microsoft.com/office/drawing/2014/main" val="2487538281"/>
                    </a:ext>
                  </a:extLst>
                </a:gridCol>
                <a:gridCol w="2438400">
                  <a:extLst>
                    <a:ext uri="{9D8B030D-6E8A-4147-A177-3AD203B41FA5}">
                      <a16:colId xmlns:a16="http://schemas.microsoft.com/office/drawing/2014/main" val="1694662027"/>
                    </a:ext>
                  </a:extLst>
                </a:gridCol>
                <a:gridCol w="2438400">
                  <a:extLst>
                    <a:ext uri="{9D8B030D-6E8A-4147-A177-3AD203B41FA5}">
                      <a16:colId xmlns:a16="http://schemas.microsoft.com/office/drawing/2014/main" val="2833035073"/>
                    </a:ext>
                  </a:extLst>
                </a:gridCol>
              </a:tblGrid>
              <a:tr h="946192">
                <a:tc>
                  <a:txBody>
                    <a:bodyPr/>
                    <a:lstStyle/>
                    <a:p>
                      <a:pPr algn="ctr"/>
                      <a:r>
                        <a:rPr lang="en-US" dirty="0">
                          <a:solidFill>
                            <a:schemeClr val="bg1"/>
                          </a:solidFill>
                        </a:rPr>
                        <a:t>Authors</a:t>
                      </a:r>
                      <a:endParaRPr lang="en-IN" dirty="0">
                        <a:solidFill>
                          <a:schemeClr val="bg1"/>
                        </a:solidFill>
                      </a:endParaRPr>
                    </a:p>
                  </a:txBody>
                  <a:tcPr anchor="ctr"/>
                </a:tc>
                <a:tc>
                  <a:txBody>
                    <a:bodyPr/>
                    <a:lstStyle/>
                    <a:p>
                      <a:pPr algn="ctr"/>
                      <a:r>
                        <a:rPr lang="en-US" dirty="0">
                          <a:solidFill>
                            <a:schemeClr val="bg1"/>
                          </a:solidFill>
                        </a:rPr>
                        <a:t>Year</a:t>
                      </a:r>
                      <a:endParaRPr lang="en-IN" dirty="0">
                        <a:solidFill>
                          <a:schemeClr val="bg1"/>
                        </a:solidFill>
                      </a:endParaRPr>
                    </a:p>
                  </a:txBody>
                  <a:tcPr anchor="ctr"/>
                </a:tc>
                <a:tc>
                  <a:txBody>
                    <a:bodyPr/>
                    <a:lstStyle/>
                    <a:p>
                      <a:pPr algn="ctr"/>
                      <a:r>
                        <a:rPr lang="en-IN" dirty="0">
                          <a:solidFill>
                            <a:schemeClr val="bg1"/>
                          </a:solidFill>
                        </a:rPr>
                        <a:t>Objective Linked</a:t>
                      </a:r>
                    </a:p>
                  </a:txBody>
                  <a:tcPr anchor="ctr"/>
                </a:tc>
                <a:tc>
                  <a:txBody>
                    <a:bodyPr/>
                    <a:lstStyle/>
                    <a:p>
                      <a:pPr algn="ctr"/>
                      <a:r>
                        <a:rPr lang="en-IN" dirty="0">
                          <a:solidFill>
                            <a:schemeClr val="bg1"/>
                          </a:solidFill>
                        </a:rPr>
                        <a:t>Main Contribution </a:t>
                      </a:r>
                    </a:p>
                  </a:txBody>
                  <a:tcPr anchor="ctr"/>
                </a:tc>
                <a:tc>
                  <a:txBody>
                    <a:bodyPr/>
                    <a:lstStyle/>
                    <a:p>
                      <a:pPr algn="ctr"/>
                      <a:r>
                        <a:rPr lang="en-IN" dirty="0">
                          <a:solidFill>
                            <a:schemeClr val="bg1"/>
                          </a:solidFill>
                        </a:rPr>
                        <a:t> Research Gap </a:t>
                      </a:r>
                    </a:p>
                  </a:txBody>
                  <a:tcPr anchor="ctr"/>
                </a:tc>
                <a:extLst>
                  <a:ext uri="{0D108BD9-81ED-4DB2-BD59-A6C34878D82A}">
                    <a16:rowId xmlns:a16="http://schemas.microsoft.com/office/drawing/2014/main" val="1088449535"/>
                  </a:ext>
                </a:extLst>
              </a:tr>
              <a:tr h="1078030">
                <a:tc>
                  <a:txBody>
                    <a:bodyPr/>
                    <a:lstStyle/>
                    <a:p>
                      <a:pPr algn="ctr"/>
                      <a:r>
                        <a:rPr lang="en-IN" dirty="0">
                          <a:solidFill>
                            <a:schemeClr val="bg1"/>
                          </a:solidFill>
                        </a:rPr>
                        <a:t> </a:t>
                      </a:r>
                      <a:r>
                        <a:rPr lang="en-IN" dirty="0">
                          <a:solidFill>
                            <a:schemeClr val="tx1"/>
                          </a:solidFill>
                        </a:rPr>
                        <a:t>Dhasarathan</a:t>
                      </a:r>
                    </a:p>
                  </a:txBody>
                  <a:tcPr anchor="ctr"/>
                </a:tc>
                <a:tc>
                  <a:txBody>
                    <a:bodyPr/>
                    <a:lstStyle/>
                    <a:p>
                      <a:pPr algn="ctr" defTabSz="179388"/>
                      <a:r>
                        <a:rPr lang="en-US" dirty="0">
                          <a:solidFill>
                            <a:schemeClr val="tx1"/>
                          </a:solidFill>
                        </a:rPr>
                        <a:t>2025</a:t>
                      </a:r>
                      <a:endParaRPr lang="en-IN" dirty="0">
                        <a:solidFill>
                          <a:schemeClr val="tx1"/>
                        </a:solidFill>
                      </a:endParaRPr>
                    </a:p>
                  </a:txBody>
                  <a:tcPr anchor="ctr"/>
                </a:tc>
                <a:tc>
                  <a:txBody>
                    <a:bodyPr/>
                    <a:lstStyle/>
                    <a:p>
                      <a:pPr algn="ctr"/>
                      <a:r>
                        <a:rPr lang="en-US" dirty="0">
                          <a:solidFill>
                            <a:schemeClr val="bg1"/>
                          </a:solidFill>
                        </a:rPr>
                        <a:t>    </a:t>
                      </a:r>
                      <a:r>
                        <a:rPr lang="en-US" dirty="0">
                          <a:solidFill>
                            <a:schemeClr val="tx1"/>
                          </a:solidFill>
                        </a:rPr>
                        <a:t>Objective 1</a:t>
                      </a:r>
                      <a:endParaRPr lang="en-IN" dirty="0">
                        <a:solidFill>
                          <a:schemeClr val="tx1"/>
                        </a:solidFill>
                      </a:endParaRPr>
                    </a:p>
                  </a:txBody>
                  <a:tcPr anchor="ctr"/>
                </a:tc>
                <a:tc>
                  <a:txBody>
                    <a:bodyPr/>
                    <a:lstStyle/>
                    <a:p>
                      <a:r>
                        <a:rPr lang="en-US" dirty="0">
                          <a:solidFill>
                            <a:schemeClr val="tx1"/>
                          </a:solidFill>
                        </a:rPr>
                        <a:t>Optimized deep-learning models using </a:t>
                      </a:r>
                      <a:r>
                        <a:rPr lang="en-US" dirty="0" err="1">
                          <a:solidFill>
                            <a:schemeClr val="tx1"/>
                          </a:solidFill>
                        </a:rPr>
                        <a:t>TensorRT</a:t>
                      </a:r>
                      <a:r>
                        <a:rPr lang="en-US" dirty="0">
                          <a:solidFill>
                            <a:schemeClr val="tx1"/>
                          </a:solidFill>
                        </a:rPr>
                        <a:t> for real-time detection on edge devices.</a:t>
                      </a:r>
                      <a:endParaRPr lang="en-IN" dirty="0">
                        <a:solidFill>
                          <a:schemeClr val="tx1"/>
                        </a:solidFill>
                      </a:endParaRPr>
                    </a:p>
                  </a:txBody>
                  <a:tcPr/>
                </a:tc>
                <a:tc>
                  <a:txBody>
                    <a:bodyPr/>
                    <a:lstStyle/>
                    <a:p>
                      <a:r>
                        <a:rPr lang="en-US" dirty="0">
                          <a:solidFill>
                            <a:schemeClr val="tx1"/>
                          </a:solidFill>
                        </a:rPr>
                        <a:t>Focused on speed, but accuracy under low-light conditions not addressed.</a:t>
                      </a:r>
                      <a:endParaRPr lang="en-IN" dirty="0">
                        <a:solidFill>
                          <a:schemeClr val="tx1"/>
                        </a:solidFill>
                      </a:endParaRPr>
                    </a:p>
                  </a:txBody>
                  <a:tcPr/>
                </a:tc>
                <a:extLst>
                  <a:ext uri="{0D108BD9-81ED-4DB2-BD59-A6C34878D82A}">
                    <a16:rowId xmlns:a16="http://schemas.microsoft.com/office/drawing/2014/main" val="2611894784"/>
                  </a:ext>
                </a:extLst>
              </a:tr>
              <a:tr h="1215190">
                <a:tc>
                  <a:txBody>
                    <a:bodyPr/>
                    <a:lstStyle/>
                    <a:p>
                      <a:pPr algn="ctr"/>
                      <a:r>
                        <a:rPr lang="en-US" dirty="0">
                          <a:solidFill>
                            <a:schemeClr val="tx1"/>
                          </a:solidFill>
                        </a:rPr>
                        <a:t>Hassan</a:t>
                      </a:r>
                      <a:endParaRPr lang="en-IN" dirty="0">
                        <a:solidFill>
                          <a:schemeClr val="tx1"/>
                        </a:solidFill>
                      </a:endParaRPr>
                    </a:p>
                  </a:txBody>
                  <a:tcPr anchor="ctr"/>
                </a:tc>
                <a:tc>
                  <a:txBody>
                    <a:bodyPr/>
                    <a:lstStyle/>
                    <a:p>
                      <a:pPr algn="ctr"/>
                      <a:r>
                        <a:rPr lang="en-US" dirty="0">
                          <a:solidFill>
                            <a:schemeClr val="tx1"/>
                          </a:solidFill>
                        </a:rPr>
                        <a:t>2025</a:t>
                      </a:r>
                      <a:endParaRPr lang="en-IN" dirty="0">
                        <a:solidFill>
                          <a:schemeClr val="tx1"/>
                        </a:solidFill>
                      </a:endParaRPr>
                    </a:p>
                  </a:txBody>
                  <a:tcPr anchor="ctr"/>
                </a:tc>
                <a:tc>
                  <a:txBody>
                    <a:bodyPr/>
                    <a:lstStyle/>
                    <a:p>
                      <a:pPr algn="ctr"/>
                      <a:r>
                        <a:rPr lang="en-US" dirty="0">
                          <a:solidFill>
                            <a:schemeClr val="tx1"/>
                          </a:solidFill>
                        </a:rPr>
                        <a:t>   Objective 1</a:t>
                      </a:r>
                      <a:endParaRPr lang="en-IN" dirty="0">
                        <a:solidFill>
                          <a:schemeClr val="tx1"/>
                        </a:solidFill>
                      </a:endParaRPr>
                    </a:p>
                  </a:txBody>
                  <a:tcPr anchor="ctr"/>
                </a:tc>
                <a:tc>
                  <a:txBody>
                    <a:bodyPr/>
                    <a:lstStyle/>
                    <a:p>
                      <a:r>
                        <a:rPr lang="en-US" dirty="0">
                          <a:solidFill>
                            <a:schemeClr val="tx1"/>
                          </a:solidFill>
                        </a:rPr>
                        <a:t>Proposed transformer-based models for highly accurate real-time drowsiness detection.</a:t>
                      </a:r>
                      <a:endParaRPr lang="en-IN" dirty="0">
                        <a:solidFill>
                          <a:schemeClr val="tx1"/>
                        </a:solidFill>
                      </a:endParaRPr>
                    </a:p>
                  </a:txBody>
                  <a:tcPr/>
                </a:tc>
                <a:tc>
                  <a:txBody>
                    <a:bodyPr/>
                    <a:lstStyle/>
                    <a:p>
                      <a:r>
                        <a:rPr lang="en-US" dirty="0">
                          <a:solidFill>
                            <a:schemeClr val="tx1"/>
                          </a:solidFill>
                        </a:rPr>
                        <a:t>High computational cost; not suitable for low-power onboard vehicle systems without optimization.</a:t>
                      </a:r>
                      <a:endParaRPr lang="en-IN" dirty="0">
                        <a:solidFill>
                          <a:schemeClr val="tx1"/>
                        </a:solidFill>
                      </a:endParaRPr>
                    </a:p>
                  </a:txBody>
                  <a:tcPr/>
                </a:tc>
                <a:extLst>
                  <a:ext uri="{0D108BD9-81ED-4DB2-BD59-A6C34878D82A}">
                    <a16:rowId xmlns:a16="http://schemas.microsoft.com/office/drawing/2014/main" val="3286541225"/>
                  </a:ext>
                </a:extLst>
              </a:tr>
              <a:tr h="946192">
                <a:tc>
                  <a:txBody>
                    <a:bodyPr/>
                    <a:lstStyle/>
                    <a:p>
                      <a:pPr algn="ctr"/>
                      <a:r>
                        <a:rPr lang="en-IN" dirty="0"/>
                        <a:t>Archita Bhanja</a:t>
                      </a:r>
                      <a:endParaRPr lang="en-IN" dirty="0">
                        <a:solidFill>
                          <a:schemeClr val="bg1"/>
                        </a:solidFill>
                      </a:endParaRPr>
                    </a:p>
                  </a:txBody>
                  <a:tcPr anchor="ctr"/>
                </a:tc>
                <a:tc>
                  <a:txBody>
                    <a:bodyPr/>
                    <a:lstStyle/>
                    <a:p>
                      <a:pPr algn="ctr"/>
                      <a:r>
                        <a:rPr lang="en-US" dirty="0">
                          <a:solidFill>
                            <a:schemeClr val="bg1"/>
                          </a:solidFill>
                        </a:rPr>
                        <a:t> </a:t>
                      </a:r>
                      <a:r>
                        <a:rPr lang="en-US" dirty="0">
                          <a:solidFill>
                            <a:schemeClr val="tx1"/>
                          </a:solidFill>
                        </a:rPr>
                        <a:t>2025</a:t>
                      </a:r>
                      <a:endParaRPr lang="en-IN" dirty="0">
                        <a:solidFill>
                          <a:schemeClr val="tx1"/>
                        </a:solidFill>
                      </a:endParaRPr>
                    </a:p>
                  </a:txBody>
                  <a:tcPr anchor="ctr"/>
                </a:tc>
                <a:tc>
                  <a:txBody>
                    <a:bodyPr/>
                    <a:lstStyle/>
                    <a:p>
                      <a:pPr algn="ctr"/>
                      <a:r>
                        <a:rPr lang="en-US" dirty="0">
                          <a:solidFill>
                            <a:schemeClr val="bg1"/>
                          </a:solidFill>
                        </a:rPr>
                        <a:t>   </a:t>
                      </a:r>
                      <a:r>
                        <a:rPr lang="en-US" dirty="0">
                          <a:solidFill>
                            <a:schemeClr val="tx1"/>
                          </a:solidFill>
                        </a:rPr>
                        <a:t>Objective 1</a:t>
                      </a:r>
                      <a:endParaRPr lang="en-IN" dirty="0">
                        <a:solidFill>
                          <a:schemeClr val="tx1"/>
                        </a:solidFill>
                      </a:endParaRPr>
                    </a:p>
                  </a:txBody>
                  <a:tcPr anchor="ctr"/>
                </a:tc>
                <a:tc>
                  <a:txBody>
                    <a:bodyPr/>
                    <a:lstStyle/>
                    <a:p>
                      <a:r>
                        <a:rPr lang="en-US" dirty="0">
                          <a:solidFill>
                            <a:schemeClr val="tx1"/>
                          </a:solidFill>
                        </a:rPr>
                        <a:t>Developed a </a:t>
                      </a:r>
                      <a:r>
                        <a:rPr lang="en-US" dirty="0" err="1">
                          <a:solidFill>
                            <a:schemeClr val="tx1"/>
                          </a:solidFill>
                        </a:rPr>
                        <a:t>MobileNet</a:t>
                      </a:r>
                      <a:r>
                        <a:rPr lang="en-US" dirty="0">
                          <a:solidFill>
                            <a:schemeClr val="tx1"/>
                          </a:solidFill>
                        </a:rPr>
                        <a:t>-based real-time system that classifies open/closed eyes with high accuracy and integrates it into a live camera application for detecting driver drowsiness.</a:t>
                      </a:r>
                      <a:endParaRPr lang="en-IN" dirty="0">
                        <a:solidFill>
                          <a:schemeClr val="tx1"/>
                        </a:solidFill>
                      </a:endParaRPr>
                    </a:p>
                  </a:txBody>
                  <a:tcPr/>
                </a:tc>
                <a:tc>
                  <a:txBody>
                    <a:bodyPr/>
                    <a:lstStyle/>
                    <a:p>
                      <a:r>
                        <a:rPr lang="en-US" dirty="0">
                          <a:solidFill>
                            <a:schemeClr val="tx1"/>
                          </a:solidFill>
                        </a:rPr>
                        <a:t>Does not use additional physiological signals and needs more advanced models for better accuracy in varied lighting and driver positions.</a:t>
                      </a:r>
                      <a:endParaRPr lang="en-IN" dirty="0">
                        <a:solidFill>
                          <a:schemeClr val="tx1"/>
                        </a:solidFill>
                      </a:endParaRPr>
                    </a:p>
                  </a:txBody>
                  <a:tcPr/>
                </a:tc>
                <a:extLst>
                  <a:ext uri="{0D108BD9-81ED-4DB2-BD59-A6C34878D82A}">
                    <a16:rowId xmlns:a16="http://schemas.microsoft.com/office/drawing/2014/main" val="3168264882"/>
                  </a:ext>
                </a:extLst>
              </a:tr>
              <a:tr h="946192">
                <a:tc>
                  <a:txBody>
                    <a:bodyPr/>
                    <a:lstStyle/>
                    <a:p>
                      <a:r>
                        <a:rPr lang="en-IN" dirty="0"/>
                        <a:t>Mohammad Abu Alsheikh</a:t>
                      </a:r>
                      <a:endParaRPr lang="en-IN" dirty="0">
                        <a:solidFill>
                          <a:schemeClr val="bg1"/>
                        </a:solidFill>
                      </a:endParaRPr>
                    </a:p>
                  </a:txBody>
                  <a:tcPr/>
                </a:tc>
                <a:tc>
                  <a:txBody>
                    <a:bodyPr/>
                    <a:lstStyle/>
                    <a:p>
                      <a:r>
                        <a:rPr lang="en-US" dirty="0">
                          <a:solidFill>
                            <a:schemeClr val="bg1"/>
                          </a:solidFill>
                        </a:rPr>
                        <a:t>             </a:t>
                      </a:r>
                      <a:r>
                        <a:rPr lang="en-US" dirty="0">
                          <a:solidFill>
                            <a:schemeClr val="tx1"/>
                          </a:solidFill>
                        </a:rPr>
                        <a:t>2025</a:t>
                      </a:r>
                      <a:endParaRPr lang="en-IN" dirty="0">
                        <a:solidFill>
                          <a:schemeClr val="tx1"/>
                        </a:solidFill>
                      </a:endParaRPr>
                    </a:p>
                  </a:txBody>
                  <a:tcPr/>
                </a:tc>
                <a:tc>
                  <a:txBody>
                    <a:bodyPr/>
                    <a:lstStyle/>
                    <a:p>
                      <a:r>
                        <a:rPr lang="en-US" dirty="0">
                          <a:solidFill>
                            <a:schemeClr val="bg1"/>
                          </a:solidFill>
                        </a:rPr>
                        <a:t>    </a:t>
                      </a:r>
                      <a:r>
                        <a:rPr lang="en-US" dirty="0">
                          <a:solidFill>
                            <a:schemeClr val="tx1"/>
                          </a:solidFill>
                        </a:rPr>
                        <a:t>Objective 1</a:t>
                      </a:r>
                      <a:endParaRPr lang="en-IN" dirty="0">
                        <a:solidFill>
                          <a:schemeClr val="tx1"/>
                        </a:solidFill>
                      </a:endParaRPr>
                    </a:p>
                  </a:txBody>
                  <a:tcPr/>
                </a:tc>
                <a:tc>
                  <a:txBody>
                    <a:bodyPr/>
                    <a:lstStyle/>
                    <a:p>
                      <a:r>
                        <a:rPr lang="en-US" dirty="0"/>
                        <a:t>Proposed a privacy-preserving federated learning framework with Spatial Self-Attention and LSTM for accurate drowsiness detection on decentralized facial data, achieving </a:t>
                      </a:r>
                      <a:r>
                        <a:rPr lang="en-US" b="1" dirty="0"/>
                        <a:t>89.9% accuracy</a:t>
                      </a:r>
                      <a:r>
                        <a:rPr lang="en-US" dirty="0"/>
                        <a:t>.</a:t>
                      </a:r>
                      <a:endParaRPr lang="en-IN" dirty="0">
                        <a:solidFill>
                          <a:schemeClr val="bg1"/>
                        </a:solidFill>
                      </a:endParaRPr>
                    </a:p>
                  </a:txBody>
                  <a:tcPr/>
                </a:tc>
                <a:tc>
                  <a:txBody>
                    <a:bodyPr/>
                    <a:lstStyle/>
                    <a:p>
                      <a:r>
                        <a:rPr lang="en-US" dirty="0"/>
                        <a:t>Does not include physiological signals; future work could explore </a:t>
                      </a:r>
                      <a:r>
                        <a:rPr lang="en-US" b="1" dirty="0"/>
                        <a:t>multimodal fusion</a:t>
                      </a:r>
                      <a:r>
                        <a:rPr lang="en-US" dirty="0"/>
                        <a:t> and improved real-time deployment under diverse conditions.</a:t>
                      </a:r>
                      <a:endParaRPr lang="en-IN" dirty="0">
                        <a:solidFill>
                          <a:schemeClr val="bg1"/>
                        </a:solidFill>
                      </a:endParaRPr>
                    </a:p>
                  </a:txBody>
                  <a:tcPr/>
                </a:tc>
                <a:extLst>
                  <a:ext uri="{0D108BD9-81ED-4DB2-BD59-A6C34878D82A}">
                    <a16:rowId xmlns:a16="http://schemas.microsoft.com/office/drawing/2014/main" val="3569808511"/>
                  </a:ext>
                </a:extLst>
              </a:tr>
              <a:tr h="946192">
                <a:tc>
                  <a:txBody>
                    <a:bodyPr/>
                    <a:lstStyle/>
                    <a:p>
                      <a:r>
                        <a:rPr lang="en-IN" dirty="0"/>
                        <a:t>Anupam Yadav</a:t>
                      </a:r>
                      <a:endParaRPr lang="en-IN" dirty="0">
                        <a:solidFill>
                          <a:schemeClr val="bg1"/>
                        </a:solidFill>
                      </a:endParaRPr>
                    </a:p>
                  </a:txBody>
                  <a:tcPr/>
                </a:tc>
                <a:tc>
                  <a:txBody>
                    <a:bodyPr/>
                    <a:lstStyle/>
                    <a:p>
                      <a:r>
                        <a:rPr lang="en-US" dirty="0">
                          <a:solidFill>
                            <a:schemeClr val="bg1"/>
                          </a:solidFill>
                        </a:rPr>
                        <a:t>            </a:t>
                      </a:r>
                      <a:r>
                        <a:rPr lang="en-IN" dirty="0"/>
                        <a:t>2025</a:t>
                      </a:r>
                      <a:endParaRPr lang="en-IN" dirty="0">
                        <a:solidFill>
                          <a:schemeClr val="bg1"/>
                        </a:solidFill>
                      </a:endParaRPr>
                    </a:p>
                  </a:txBody>
                  <a:tcPr/>
                </a:tc>
                <a:tc>
                  <a:txBody>
                    <a:bodyPr/>
                    <a:lstStyle/>
                    <a:p>
                      <a:r>
                        <a:rPr lang="en-US" dirty="0">
                          <a:solidFill>
                            <a:schemeClr val="bg1"/>
                          </a:solidFill>
                        </a:rPr>
                        <a:t>    </a:t>
                      </a:r>
                      <a:r>
                        <a:rPr lang="en-IN" dirty="0"/>
                        <a:t>Objective 1</a:t>
                      </a:r>
                      <a:endParaRPr lang="en-IN" dirty="0">
                        <a:solidFill>
                          <a:schemeClr val="bg1"/>
                        </a:solidFill>
                      </a:endParaRPr>
                    </a:p>
                  </a:txBody>
                  <a:tcPr/>
                </a:tc>
                <a:tc>
                  <a:txBody>
                    <a:bodyPr/>
                    <a:lstStyle/>
                    <a:p>
                      <a:r>
                        <a:rPr lang="en-US" dirty="0"/>
                        <a:t>Optimized CNNs for EEG-based drowsiness detection using human-inspired algorithms (TLBO and SPBO), achieving high predictive performance with efficient training.</a:t>
                      </a:r>
                      <a:endParaRPr lang="en-IN" dirty="0">
                        <a:solidFill>
                          <a:schemeClr val="bg1"/>
                        </a:solidFill>
                      </a:endParaRPr>
                    </a:p>
                  </a:txBody>
                  <a:tcPr/>
                </a:tc>
                <a:tc>
                  <a:txBody>
                    <a:bodyPr/>
                    <a:lstStyle/>
                    <a:p>
                      <a:r>
                        <a:rPr lang="en-US" dirty="0"/>
                        <a:t>Limited to EEG signals; multimodal integration and real-time deployment remain unexplored.</a:t>
                      </a:r>
                      <a:endParaRPr lang="en-IN" dirty="0">
                        <a:solidFill>
                          <a:schemeClr val="bg1"/>
                        </a:solidFill>
                      </a:endParaRPr>
                    </a:p>
                  </a:txBody>
                  <a:tcPr/>
                </a:tc>
                <a:extLst>
                  <a:ext uri="{0D108BD9-81ED-4DB2-BD59-A6C34878D82A}">
                    <a16:rowId xmlns:a16="http://schemas.microsoft.com/office/drawing/2014/main" val="919109301"/>
                  </a:ext>
                </a:extLst>
              </a:tr>
            </a:tbl>
          </a:graphicData>
        </a:graphic>
      </p:graphicFrame>
    </p:spTree>
    <p:extLst>
      <p:ext uri="{BB962C8B-B14F-4D97-AF65-F5344CB8AC3E}">
        <p14:creationId xmlns:p14="http://schemas.microsoft.com/office/powerpoint/2010/main" val="173106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00600" y="-3548"/>
            <a:ext cx="4551985"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sp>
        <p:nvSpPr>
          <p:cNvPr id="3" name="object 3"/>
          <p:cNvSpPr txBox="1"/>
          <p:nvPr/>
        </p:nvSpPr>
        <p:spPr>
          <a:xfrm>
            <a:off x="236899" y="1002318"/>
            <a:ext cx="11345501" cy="5082866"/>
          </a:xfrm>
          <a:prstGeom prst="rect">
            <a:avLst/>
          </a:prstGeom>
        </p:spPr>
        <p:txBody>
          <a:bodyPr vert="horz" wrap="square" lIns="0" tIns="60960" rIns="0" bIns="0" rtlCol="0">
            <a:spAutoFit/>
          </a:bodyPr>
          <a:lstStyle/>
          <a:p>
            <a:pPr marL="342900" indent="-342900" algn="just">
              <a:lnSpc>
                <a:spcPct val="150000"/>
              </a:lnSpc>
              <a:buFont typeface="Arial" panose="020B0604020202020204" pitchFamily="34" charset="0"/>
              <a:buChar char="•"/>
            </a:pPr>
            <a:r>
              <a:rPr lang="en-US" sz="2000" b="1" dirty="0"/>
              <a:t>To overcome the limitations of traditional drowsiness detection methods</a:t>
            </a:r>
            <a:r>
              <a:rPr lang="en-US" sz="2000" dirty="0"/>
              <a:t>, the proposed system integrates computer vision with a hybrid quantum–classical deep learning model to accurately identify early signs of driver fatigue in real time.</a:t>
            </a:r>
          </a:p>
          <a:p>
            <a:pPr marL="342900" indent="-342900" algn="just">
              <a:lnSpc>
                <a:spcPct val="150000"/>
              </a:lnSpc>
              <a:buFont typeface="Arial" panose="020B0604020202020204" pitchFamily="34" charset="0"/>
              <a:buChar char="•"/>
            </a:pPr>
            <a:r>
              <a:rPr lang="en-US" sz="2000" b="1" dirty="0"/>
              <a:t>The system captures live video using a webcam</a:t>
            </a:r>
            <a:r>
              <a:rPr lang="en-US" sz="2000" dirty="0"/>
              <a:t>, extracts facial and eye features using CNN-based processing, and performs final classification through a Variational Quantum Circuit for improved decision accuracy.</a:t>
            </a:r>
          </a:p>
          <a:p>
            <a:pPr marL="342900" indent="-342900" algn="just">
              <a:lnSpc>
                <a:spcPct val="150000"/>
              </a:lnSpc>
              <a:buFont typeface="Arial" panose="020B0604020202020204" pitchFamily="34" charset="0"/>
              <a:buChar char="•"/>
            </a:pPr>
            <a:r>
              <a:rPr lang="en-US" sz="2000" b="1" dirty="0"/>
              <a:t>When drowsiness is detected</a:t>
            </a:r>
            <a:r>
              <a:rPr lang="en-US" sz="2000" dirty="0"/>
              <a:t>, the system automatically triggers an audio alert for immediate driver awareness and sends an SMTP email notification to registered contacts as an external safety measure.</a:t>
            </a:r>
          </a:p>
          <a:p>
            <a:pPr marL="342900" indent="-342900" algn="just">
              <a:lnSpc>
                <a:spcPct val="150000"/>
              </a:lnSpc>
              <a:buFont typeface="Arial" panose="020B0604020202020204" pitchFamily="34" charset="0"/>
              <a:buChar char="•"/>
            </a:pPr>
            <a:r>
              <a:rPr lang="en-US" sz="2000" b="1" dirty="0"/>
              <a:t>The proposed system is fully automated, non-intrusive, and capable of continuous monitoring</a:t>
            </a:r>
            <a:r>
              <a:rPr lang="en-US" sz="2000" dirty="0"/>
              <a:t>, ensuring enhanced reliability and faster response during fatigue-related incidents.</a:t>
            </a: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9" name="object 9"/>
          <p:cNvSpPr txBox="1">
            <a:spLocks noGrp="1"/>
          </p:cNvSpPr>
          <p:nvPr>
            <p:ph type="dt" sz="half" idx="6"/>
          </p:nvPr>
        </p:nvSpPr>
        <p:spPr>
          <a:xfrm>
            <a:off x="1544489" y="6629559"/>
            <a:ext cx="389087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934200" y="6629197"/>
            <a:ext cx="4093398" cy="228803"/>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85055" y="-26696"/>
            <a:ext cx="4739005" cy="974626"/>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58544" y="6629197"/>
            <a:ext cx="4007346" cy="228803"/>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8" name="object 8"/>
          <p:cNvSpPr txBox="1"/>
          <p:nvPr/>
        </p:nvSpPr>
        <p:spPr>
          <a:xfrm>
            <a:off x="204520" y="1019880"/>
            <a:ext cx="11588725" cy="6294031"/>
          </a:xfrm>
          <a:prstGeom prst="rect">
            <a:avLst/>
          </a:prstGeom>
        </p:spPr>
        <p:txBody>
          <a:bodyPr vert="horz" wrap="square" lIns="0" tIns="60960" rIns="0" bIns="0" rtlCol="0">
            <a:spAutoFit/>
          </a:bodyPr>
          <a:lstStyle/>
          <a:p>
            <a:pPr marL="590550" marR="5080" indent="-577850" algn="just">
              <a:lnSpc>
                <a:spcPct val="200000"/>
              </a:lnSpc>
              <a:spcBef>
                <a:spcPts val="480"/>
              </a:spcBef>
              <a:buFont typeface="+mj-lt"/>
              <a:buAutoNum type="arabicPeriod"/>
              <a:tabLst>
                <a:tab pos="1111885" algn="l"/>
                <a:tab pos="1600200" algn="l"/>
                <a:tab pos="4647565" algn="l"/>
                <a:tab pos="7319009" algn="l"/>
                <a:tab pos="9843770" algn="l"/>
              </a:tabLst>
            </a:pPr>
            <a:r>
              <a:rPr lang="en-IN" sz="1600" dirty="0"/>
              <a:t>Dhasarathan, C., Gnanasekaran, S., </a:t>
            </a:r>
            <a:r>
              <a:rPr lang="en-IN" sz="1600" dirty="0" err="1"/>
              <a:t>Pattanayak</a:t>
            </a:r>
            <a:r>
              <a:rPr lang="en-IN" sz="1600" dirty="0"/>
              <a:t>, A., Kumar, G., </a:t>
            </a:r>
            <a:r>
              <a:rPr lang="en-IN" sz="1600" dirty="0" err="1"/>
              <a:t>Vig</a:t>
            </a:r>
            <a:r>
              <a:rPr lang="en-IN" sz="1600" dirty="0"/>
              <a:t>, K., Narain, V., ... &amp; Garg, S. (2025). </a:t>
            </a:r>
            <a:r>
              <a:rPr lang="en-IN" sz="1600" dirty="0" err="1"/>
              <a:t>TensorRT</a:t>
            </a:r>
            <a:r>
              <a:rPr lang="en-IN" sz="1600" dirty="0"/>
              <a:t> optimized driver drowsiness detection system using edge device. </a:t>
            </a:r>
            <a:r>
              <a:rPr lang="en-IN" sz="1600" i="1" dirty="0"/>
              <a:t>Ain Shams Engineering Journal, 16</a:t>
            </a:r>
            <a:r>
              <a:rPr lang="en-IN" sz="1600" dirty="0"/>
              <a:t>(10), 103620.</a:t>
            </a:r>
          </a:p>
          <a:p>
            <a:pPr marL="590550" marR="5080" indent="-577850" algn="just">
              <a:lnSpc>
                <a:spcPct val="200000"/>
              </a:lnSpc>
              <a:spcBef>
                <a:spcPts val="480"/>
              </a:spcBef>
              <a:buFont typeface="+mj-lt"/>
              <a:buAutoNum type="arabicPeriod"/>
              <a:tabLst>
                <a:tab pos="1111885" algn="l"/>
                <a:tab pos="1600200" algn="l"/>
                <a:tab pos="4647565" algn="l"/>
                <a:tab pos="7319009" algn="l"/>
                <a:tab pos="9843770" algn="l"/>
              </a:tabLst>
            </a:pPr>
            <a:r>
              <a:rPr lang="en-IN" sz="1600" dirty="0"/>
              <a:t>Hassan, O. F., Ibrahim, A. F., Gomaa, A., Makhlouf, M. A., &amp; Hafiz, B. (2025). Real-time driver drowsiness detection using transformer architectures: a novel deep learning approach. </a:t>
            </a:r>
            <a:r>
              <a:rPr lang="en-IN" sz="1600" i="1" dirty="0"/>
              <a:t>Scientific Reports, 15</a:t>
            </a:r>
            <a:r>
              <a:rPr lang="en-IN" sz="1600" dirty="0"/>
              <a:t>(1), 17493</a:t>
            </a:r>
          </a:p>
          <a:p>
            <a:pPr marL="590550" marR="5080" indent="-577850" algn="just">
              <a:lnSpc>
                <a:spcPct val="200000"/>
              </a:lnSpc>
              <a:spcBef>
                <a:spcPts val="480"/>
              </a:spcBef>
              <a:buFont typeface="+mj-lt"/>
              <a:buAutoNum type="arabicPeriod"/>
              <a:tabLst>
                <a:tab pos="1111885" algn="l"/>
                <a:tab pos="1600200" algn="l"/>
                <a:tab pos="4647565" algn="l"/>
                <a:tab pos="7319009" algn="l"/>
                <a:tab pos="9843770" algn="l"/>
              </a:tabLst>
            </a:pPr>
            <a:r>
              <a:rPr lang="en-IN" sz="1600" dirty="0"/>
              <a:t>Archita Bhanja, D., </a:t>
            </a:r>
            <a:r>
              <a:rPr lang="en-IN" sz="1600" dirty="0" err="1"/>
              <a:t>Parhi</a:t>
            </a:r>
            <a:r>
              <a:rPr lang="en-IN" sz="1600" dirty="0"/>
              <a:t>, D., Gajendra, D., Sinha, K., &amp; Sahoo, A. K. (2025). Driver Drowsiness Shield (DDSH): Real-time eye-state classification for drowsiness detection. </a:t>
            </a:r>
            <a:r>
              <a:rPr lang="en-IN" sz="1600" i="1" dirty="0"/>
              <a:t>Scientific Reports, 15</a:t>
            </a:r>
            <a:r>
              <a:rPr lang="en-IN" sz="1600" dirty="0"/>
              <a:t>(1), 11234..</a:t>
            </a:r>
          </a:p>
          <a:p>
            <a:pPr marL="590550" marR="5080" indent="-577850" algn="just">
              <a:lnSpc>
                <a:spcPct val="200000"/>
              </a:lnSpc>
              <a:spcBef>
                <a:spcPts val="480"/>
              </a:spcBef>
              <a:buFont typeface="+mj-lt"/>
              <a:buAutoNum type="arabicPeriod"/>
              <a:tabLst>
                <a:tab pos="1111885" algn="l"/>
                <a:tab pos="1600200" algn="l"/>
                <a:tab pos="4647565" algn="l"/>
                <a:tab pos="7319009" algn="l"/>
                <a:tab pos="9843770" algn="l"/>
              </a:tabLst>
            </a:pPr>
            <a:r>
              <a:rPr lang="en-IN" sz="1600" dirty="0"/>
              <a:t>Mohammad Abu Alsheikh, T. V. Khoa, D. H. Son, Y. F. Alem, &amp; D. T. Hoang. (2025). Privacy-preserving driver drowsiness detection with spatial self-attention and federated learning. </a:t>
            </a:r>
            <a:r>
              <a:rPr lang="en-IN" sz="1600" i="1" dirty="0"/>
              <a:t>IEEE Transactions on Intelligent Transportation Systems.</a:t>
            </a:r>
            <a:r>
              <a:rPr lang="en-IN" sz="1600" dirty="0"/>
              <a:t> (Submitted)s</a:t>
            </a:r>
          </a:p>
          <a:p>
            <a:pPr marL="590550" marR="5080" indent="-577850" algn="just">
              <a:lnSpc>
                <a:spcPct val="200000"/>
              </a:lnSpc>
              <a:spcBef>
                <a:spcPts val="480"/>
              </a:spcBef>
              <a:buFont typeface="+mj-lt"/>
              <a:buAutoNum type="arabicPeriod"/>
              <a:tabLst>
                <a:tab pos="1111885" algn="l"/>
                <a:tab pos="1600200" algn="l"/>
                <a:tab pos="4647565" algn="l"/>
                <a:tab pos="7319009" algn="l"/>
                <a:tab pos="9843770" algn="l"/>
              </a:tabLst>
            </a:pPr>
            <a:r>
              <a:rPr lang="en-IN" sz="1600" dirty="0"/>
              <a:t>Yadav, A., Kumar, R., Singh, P., &amp; Sharma, V. (2025). Enhancing convolutional neural networks in electroencephalogram driver drowsiness detection using human-inspired optimizers. </a:t>
            </a:r>
            <a:r>
              <a:rPr lang="en-IN" sz="1600" i="1" dirty="0"/>
              <a:t>Scientific Reports, 15</a:t>
            </a:r>
            <a:r>
              <a:rPr lang="en-IN" sz="1600" dirty="0"/>
              <a:t>(1), 14567.</a:t>
            </a:r>
          </a:p>
          <a:p>
            <a:pPr marL="12700" marR="5080" algn="just">
              <a:spcBef>
                <a:spcPts val="480"/>
              </a:spcBef>
              <a:tabLst>
                <a:tab pos="1111885" algn="l"/>
                <a:tab pos="1600200" algn="l"/>
                <a:tab pos="4647565" algn="l"/>
                <a:tab pos="7319009" algn="l"/>
                <a:tab pos="9843770" algn="l"/>
              </a:tabLst>
            </a:pPr>
            <a:endParaRPr lang="en-IN" sz="1400" dirty="0"/>
          </a:p>
          <a:p>
            <a:pPr marL="590550" marR="5080" indent="-577850" algn="just">
              <a:spcBef>
                <a:spcPts val="480"/>
              </a:spcBef>
              <a:buFont typeface="+mj-lt"/>
              <a:buAutoNum type="arabicPeriod"/>
              <a:tabLst>
                <a:tab pos="1111885" algn="l"/>
                <a:tab pos="1600200" algn="l"/>
                <a:tab pos="4647565" algn="l"/>
                <a:tab pos="7319009" algn="l"/>
                <a:tab pos="9843770" algn="l"/>
              </a:tabLst>
            </a:pPr>
            <a:endParaRPr lang="en-IN" sz="14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4800600" y="-18716"/>
            <a:ext cx="4628185" cy="1218282"/>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a:t>
            </a:r>
            <a:r>
              <a:rPr lang="en-US" dirty="0"/>
              <a:t>d</a:t>
            </a:r>
            <a:endParaRPr spc="-10" dirty="0"/>
          </a:p>
        </p:txBody>
      </p:sp>
      <p:sp>
        <p:nvSpPr>
          <p:cNvPr id="10" name="object 10"/>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11" name="object 11"/>
          <p:cNvSpPr txBox="1">
            <a:spLocks noGrp="1"/>
          </p:cNvSpPr>
          <p:nvPr>
            <p:ph type="dt" sz="half" idx="6"/>
          </p:nvPr>
        </p:nvSpPr>
        <p:spPr>
          <a:xfrm>
            <a:off x="1447800" y="6629559"/>
            <a:ext cx="39875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6934200" y="6629197"/>
            <a:ext cx="4093398" cy="228803"/>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760412" y="6102978"/>
            <a:ext cx="10442575"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link</a:t>
            </a:r>
            <a:r>
              <a:rPr sz="1800" spc="-1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the</a:t>
            </a:r>
            <a:r>
              <a:rPr sz="1800" spc="-10" dirty="0">
                <a:latin typeface="Arial MT"/>
                <a:cs typeface="Arial MT"/>
              </a:rPr>
              <a:t> </a:t>
            </a:r>
            <a:r>
              <a:rPr sz="1800" spc="-10" dirty="0" err="1">
                <a:latin typeface="Arial MT"/>
                <a:cs typeface="Arial MT"/>
              </a:rPr>
              <a:t>Github</a:t>
            </a:r>
            <a:r>
              <a:rPr lang="en-US" sz="1800" spc="-10" dirty="0">
                <a:latin typeface="Arial MT"/>
                <a:cs typeface="Arial MT"/>
              </a:rPr>
              <a:t>: </a:t>
            </a:r>
            <a:r>
              <a:rPr lang="en-IN" dirty="0">
                <a:hlinkClick r:id="rId3"/>
              </a:rPr>
              <a:t>Premalatha1234/CSE-2022-26-Batch-B20</a:t>
            </a:r>
            <a:endParaRPr sz="1800" dirty="0">
              <a:latin typeface="Arial MT"/>
              <a:cs typeface="Arial MT"/>
            </a:endParaRPr>
          </a:p>
        </p:txBody>
      </p:sp>
      <p:pic>
        <p:nvPicPr>
          <p:cNvPr id="14" name="Picture 13">
            <a:extLst>
              <a:ext uri="{FF2B5EF4-FFF2-40B4-BE49-F238E27FC236}">
                <a16:creationId xmlns:a16="http://schemas.microsoft.com/office/drawing/2014/main" id="{EFF8B3F2-00FC-661D-C923-478298700F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1036080"/>
            <a:ext cx="10896600" cy="48062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4800600" y="0"/>
            <a:ext cx="4932985" cy="1218282"/>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Driver Drowsiness Detector Using Quantum Computing</a:t>
            </a: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lang="en-US" sz="1500" dirty="0">
              <a:latin typeface="Times New Roman"/>
              <a:cs typeface="Times New Roman"/>
            </a:endParaRPr>
          </a:p>
          <a:p>
            <a:pPr marL="12700">
              <a:spcBef>
                <a:spcPts val="100"/>
              </a:spcBef>
            </a:pP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sp>
        <p:nvSpPr>
          <p:cNvPr id="5" name="object 5"/>
          <p:cNvSpPr txBox="1">
            <a:spLocks noGrp="1"/>
          </p:cNvSpPr>
          <p:nvPr>
            <p:ph type="ftr" sz="quarter" idx="5"/>
          </p:nvPr>
        </p:nvSpPr>
        <p:spPr>
          <a:xfrm>
            <a:off x="154637" y="6629427"/>
            <a:ext cx="624205" cy="230832"/>
          </a:xfrm>
          <a:prstGeom prst="rect">
            <a:avLst/>
          </a:prstGeom>
        </p:spPr>
        <p:txBody>
          <a:bodyPr vert="horz" wrap="square" lIns="0" tIns="0" rIns="0" bIns="0" rtlCol="0">
            <a:spAutoFit/>
          </a:bodyPr>
          <a:lstStyle/>
          <a:p>
            <a:pPr marL="12700">
              <a:lnSpc>
                <a:spcPts val="1845"/>
              </a:lnSpc>
            </a:pPr>
            <a:r>
              <a:rPr lang="en-US" spc="-25" dirty="0"/>
              <a:t>B-20</a:t>
            </a:r>
            <a:endParaRPr spc="-25" dirty="0"/>
          </a:p>
        </p:txBody>
      </p:sp>
      <p:sp>
        <p:nvSpPr>
          <p:cNvPr id="6" name="object 6"/>
          <p:cNvSpPr txBox="1">
            <a:spLocks noGrp="1"/>
          </p:cNvSpPr>
          <p:nvPr>
            <p:ph type="dt" sz="half" idx="6"/>
          </p:nvPr>
        </p:nvSpPr>
        <p:spPr>
          <a:xfrm>
            <a:off x="1447800" y="6629559"/>
            <a:ext cx="39875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6934200" y="6629197"/>
            <a:ext cx="4093398" cy="230832"/>
          </a:xfrm>
          <a:prstGeom prst="rect">
            <a:avLst/>
          </a:prstGeom>
        </p:spPr>
        <p:txBody>
          <a:bodyPr vert="horz" wrap="square" lIns="0" tIns="0" rIns="0" bIns="0" rtlCol="0">
            <a:spAutoFit/>
          </a:bodyPr>
          <a:lstStyle/>
          <a:p>
            <a:pPr marL="12700">
              <a:lnSpc>
                <a:spcPts val="1845"/>
              </a:lnSpc>
            </a:pPr>
            <a:r>
              <a:rPr sz="1600" cap="small" spc="-120" dirty="0">
                <a:solidFill>
                  <a:srgbClr val="FFFFFF"/>
                </a:solidFill>
                <a:latin typeface="Times New Roman"/>
                <a:cs typeface="Times New Roman"/>
              </a:rPr>
              <a:t>Srinivasa</a:t>
            </a:r>
            <a:r>
              <a:rPr sz="1600" cap="small" spc="8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8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85" dirty="0">
                <a:solidFill>
                  <a:srgbClr val="FFFFFF"/>
                </a:solidFill>
                <a:latin typeface="Times New Roman"/>
                <a:cs typeface="Times New Roman"/>
              </a:rPr>
              <a:t> </a:t>
            </a:r>
            <a:r>
              <a:rPr sz="1600" cap="small" spc="-125" dirty="0">
                <a:solidFill>
                  <a:srgbClr val="FFFFFF"/>
                </a:solidFill>
                <a:latin typeface="Times New Roman"/>
                <a:cs typeface="Times New Roman"/>
              </a:rPr>
              <a:t>of</a:t>
            </a:r>
            <a:r>
              <a:rPr sz="1600" cap="small" spc="60"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TotalTime>
  <Words>1405</Words>
  <Application>Microsoft Office PowerPoint</Application>
  <PresentationFormat>Widescreen</PresentationFormat>
  <Paragraphs>150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MT</vt:lpstr>
      <vt:lpstr>Lucida Sans Unicode</vt:lpstr>
      <vt:lpstr>Times New Roman</vt:lpstr>
      <vt:lpstr>Office Theme</vt:lpstr>
      <vt:lpstr>Driver Drowsiness Detector Using Quantum Computing</vt:lpstr>
      <vt:lpstr>Contents</vt:lpstr>
      <vt:lpstr>Title Justification</vt:lpstr>
      <vt:lpstr>Abstract</vt:lpstr>
      <vt:lpstr>Problem Statement</vt:lpstr>
      <vt:lpstr>Objectives of Project</vt:lpstr>
      <vt:lpstr>PowerPoint Presentation</vt:lpstr>
      <vt:lpstr>Proposed System</vt:lpstr>
      <vt:lpstr>References</vt:lpstr>
      <vt:lpstr>Git Hub Dashboard</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REVIEW-0 TEMPLATE-new.pptx</dc:title>
  <dc:creator>Neha Das</dc:creator>
  <cp:lastModifiedBy>User</cp:lastModifiedBy>
  <cp:revision>13</cp:revision>
  <cp:lastPrinted>2025-12-12T14:33:37Z</cp:lastPrinted>
  <dcterms:created xsi:type="dcterms:W3CDTF">2025-12-06T11:25:11Z</dcterms:created>
  <dcterms:modified xsi:type="dcterms:W3CDTF">2025-12-19T01:42:52Z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2025-12-06T00:00:00Z</vt:filetime>
  </property>
  <property fmtid="{D5CDD505-2E9C-101B-9397-08002B2CF9AE}" pid="3" name="Creator">
    <vt:lpwstr>Google</vt:lpwstr>
  </property>
  <property fmtid="{D5CDD505-2E9C-101B-9397-08002B2CF9AE}" pid="4" name="LastSaved">
    <vt:filetime>2025-12-06T00:00:00Z</vt:filetime>
  </property>
</Properties>
</file>